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Asap" panose="020B0604020202020204" charset="0"/>
      <p:regular r:id="rId9"/>
    </p:embeddedFont>
    <p:embeddedFont>
      <p:font typeface="Faustina Bold" panose="020B0604020202020204" charset="0"/>
      <p:regular r:id="rId10"/>
    </p:embeddedFont>
    <p:embeddedFont>
      <p:font typeface="Saira ExtraCondensed" panose="020B0604020202020204" charset="0"/>
      <p:regular r:id="rId11"/>
    </p:embeddedFont>
    <p:embeddedFont>
      <p:font typeface="Saira ExtraCondensed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93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08712" y="-671200"/>
            <a:ext cx="3243146" cy="11629399"/>
            <a:chOff x="0" y="0"/>
            <a:chExt cx="854162" cy="306288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4162" cy="3062887"/>
            </a:xfrm>
            <a:custGeom>
              <a:avLst/>
              <a:gdLst/>
              <a:ahLst/>
              <a:cxnLst/>
              <a:rect l="l" t="t" r="r" b="b"/>
              <a:pathLst>
                <a:path w="854162" h="3062887">
                  <a:moveTo>
                    <a:pt x="0" y="0"/>
                  </a:moveTo>
                  <a:lnTo>
                    <a:pt x="854162" y="0"/>
                  </a:lnTo>
                  <a:lnTo>
                    <a:pt x="854162" y="3062887"/>
                  </a:lnTo>
                  <a:lnTo>
                    <a:pt x="0" y="3062887"/>
                  </a:lnTo>
                  <a:close/>
                </a:path>
              </a:pathLst>
            </a:custGeom>
            <a:solidFill>
              <a:srgbClr val="547D3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54162" cy="31105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-62212" y="658240"/>
            <a:ext cx="6012550" cy="8970520"/>
            <a:chOff x="0" y="0"/>
            <a:chExt cx="660400" cy="98529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60400" cy="985294"/>
            </a:xfrm>
            <a:custGeom>
              <a:avLst/>
              <a:gdLst/>
              <a:ahLst/>
              <a:cxnLst/>
              <a:rect l="l" t="t" r="r" b="b"/>
              <a:pathLst>
                <a:path w="660400" h="985294">
                  <a:moveTo>
                    <a:pt x="220252" y="966225"/>
                  </a:moveTo>
                  <a:cubicBezTo>
                    <a:pt x="254109" y="977739"/>
                    <a:pt x="292600" y="985294"/>
                    <a:pt x="330378" y="985294"/>
                  </a:cubicBezTo>
                  <a:cubicBezTo>
                    <a:pt x="368157" y="985294"/>
                    <a:pt x="404509" y="978817"/>
                    <a:pt x="438009" y="967304"/>
                  </a:cubicBezTo>
                  <a:cubicBezTo>
                    <a:pt x="438723" y="966944"/>
                    <a:pt x="439435" y="966944"/>
                    <a:pt x="440148" y="966585"/>
                  </a:cubicBezTo>
                  <a:cubicBezTo>
                    <a:pt x="565955" y="920529"/>
                    <a:pt x="658618" y="798916"/>
                    <a:pt x="660400" y="652961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652476"/>
                  </a:lnTo>
                  <a:cubicBezTo>
                    <a:pt x="1782" y="799634"/>
                    <a:pt x="93019" y="921250"/>
                    <a:pt x="220252" y="966225"/>
                  </a:cubicBezTo>
                  <a:close/>
                </a:path>
              </a:pathLst>
            </a:custGeom>
            <a:solidFill>
              <a:srgbClr val="FDDEA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660400" cy="9059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4198673" y="5676631"/>
            <a:ext cx="2173818" cy="2149362"/>
          </a:xfrm>
          <a:custGeom>
            <a:avLst/>
            <a:gdLst/>
            <a:ahLst/>
            <a:cxnLst/>
            <a:rect l="l" t="t" r="r" b="b"/>
            <a:pathLst>
              <a:path w="2173818" h="2149362">
                <a:moveTo>
                  <a:pt x="2173817" y="0"/>
                </a:moveTo>
                <a:lnTo>
                  <a:pt x="0" y="0"/>
                </a:lnTo>
                <a:lnTo>
                  <a:pt x="0" y="2149362"/>
                </a:lnTo>
                <a:lnTo>
                  <a:pt x="2173817" y="2149362"/>
                </a:lnTo>
                <a:lnTo>
                  <a:pt x="217381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9551063" y="1765940"/>
            <a:ext cx="7719012" cy="0"/>
          </a:xfrm>
          <a:prstGeom prst="line">
            <a:avLst/>
          </a:prstGeom>
          <a:ln w="47625" cap="rnd">
            <a:solidFill>
              <a:srgbClr val="70170A"/>
            </a:solidFill>
            <a:prstDash val="sysDash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9036167" y="1765940"/>
            <a:ext cx="5945802" cy="0"/>
          </a:xfrm>
          <a:prstGeom prst="line">
            <a:avLst/>
          </a:prstGeom>
          <a:ln w="47625" cap="rnd">
            <a:solidFill>
              <a:srgbClr val="70170A"/>
            </a:solidFill>
            <a:prstDash val="sysDash"/>
            <a:headEnd type="oval" w="lg" len="lg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9036167" y="7505539"/>
            <a:ext cx="8233907" cy="0"/>
          </a:xfrm>
          <a:prstGeom prst="line">
            <a:avLst/>
          </a:prstGeom>
          <a:ln w="47625" cap="rnd">
            <a:solidFill>
              <a:srgbClr val="547D39"/>
            </a:solidFill>
            <a:prstDash val="sysDash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028700" y="3174403"/>
            <a:ext cx="3576909" cy="3576909"/>
          </a:xfrm>
          <a:custGeom>
            <a:avLst/>
            <a:gdLst/>
            <a:ahLst/>
            <a:cxnLst/>
            <a:rect l="l" t="t" r="r" b="b"/>
            <a:pathLst>
              <a:path w="3576909" h="3576909">
                <a:moveTo>
                  <a:pt x="0" y="0"/>
                </a:moveTo>
                <a:lnTo>
                  <a:pt x="3576909" y="0"/>
                </a:lnTo>
                <a:lnTo>
                  <a:pt x="3576909" y="3576909"/>
                </a:lnTo>
                <a:lnTo>
                  <a:pt x="0" y="35769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8550374" y="1832812"/>
            <a:ext cx="9205494" cy="3084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90"/>
              </a:lnSpc>
              <a:spcBef>
                <a:spcPct val="0"/>
              </a:spcBef>
            </a:pPr>
            <a:r>
              <a:rPr lang="en-US" sz="18064" b="1">
                <a:solidFill>
                  <a:srgbClr val="547D39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AZURE AI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15127" y="4362961"/>
            <a:ext cx="7475988" cy="2961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293"/>
              </a:lnSpc>
              <a:spcBef>
                <a:spcPct val="0"/>
              </a:spcBef>
            </a:pPr>
            <a:r>
              <a:rPr lang="en-US" sz="17352" b="1">
                <a:solidFill>
                  <a:srgbClr val="70170A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505937" y="1028700"/>
          <a:ext cx="17276127" cy="9043456"/>
        </p:xfrm>
        <a:graphic>
          <a:graphicData uri="http://schemas.openxmlformats.org/drawingml/2006/table">
            <a:tbl>
              <a:tblPr/>
              <a:tblGrid>
                <a:gridCol w="2785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87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032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0950">
                <a:tc>
                  <a:txBody>
                    <a:bodyPr/>
                    <a:lstStyle/>
                    <a:p>
                      <a:pPr algn="ctr">
                        <a:lnSpc>
                          <a:spcPts val="6299"/>
                        </a:lnSpc>
                        <a:defRPr/>
                      </a:pPr>
                      <a:r>
                        <a:rPr lang="en-US" sz="4499" b="1">
                          <a:solidFill>
                            <a:srgbClr val="DCD8CC"/>
                          </a:solidFill>
                          <a:latin typeface="Faustina Bold"/>
                          <a:ea typeface="Faustina Bold"/>
                          <a:cs typeface="Faustina Bold"/>
                          <a:sym typeface="Faustina Bold"/>
                        </a:rPr>
                        <a:t>Tiêu chí</a:t>
                      </a:r>
                      <a:endParaRPr lang="en-US" sz="1100"/>
                    </a:p>
                  </a:txBody>
                  <a:tcPr marL="187059" marR="187059" marT="187059" marB="18705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7D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99"/>
                        </a:lnSpc>
                        <a:defRPr/>
                      </a:pPr>
                      <a:r>
                        <a:rPr lang="en-US" sz="4499" b="1">
                          <a:solidFill>
                            <a:srgbClr val="DCD8CC"/>
                          </a:solidFill>
                          <a:latin typeface="Faustina Bold"/>
                          <a:ea typeface="Faustina Bold"/>
                          <a:cs typeface="Faustina Bold"/>
                          <a:sym typeface="Faustina Bold"/>
                        </a:rPr>
                        <a:t>RAG</a:t>
                      </a:r>
                      <a:endParaRPr lang="en-US" sz="1100"/>
                    </a:p>
                  </a:txBody>
                  <a:tcPr marL="187059" marR="187059" marT="187059" marB="18705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7D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99"/>
                        </a:lnSpc>
                        <a:defRPr/>
                      </a:pPr>
                      <a:r>
                        <a:rPr lang="en-US" sz="4499" b="1">
                          <a:solidFill>
                            <a:srgbClr val="DCD8CC"/>
                          </a:solidFill>
                          <a:latin typeface="Faustina Bold"/>
                          <a:ea typeface="Faustina Bold"/>
                          <a:cs typeface="Faustina Bold"/>
                          <a:sym typeface="Faustina Bold"/>
                        </a:rPr>
                        <a:t>Azure Ai Search</a:t>
                      </a:r>
                      <a:endParaRPr lang="en-US" sz="1100"/>
                    </a:p>
                  </a:txBody>
                  <a:tcPr marL="187059" marR="187059" marT="187059" marB="18705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7D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6301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Cách hoạt động</a:t>
                      </a:r>
                      <a:endParaRPr lang="en-US" sz="1100"/>
                    </a:p>
                  </a:txBody>
                  <a:tcPr marL="187059" marR="187059" marT="187059" marB="18705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Một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vòng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lặp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đơn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: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truy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vấn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 → vector search → LLM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trả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lời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(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tùy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thuộc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vào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 user) </a:t>
                      </a:r>
                      <a:endParaRPr lang="en-US" sz="1100" dirty="0"/>
                    </a:p>
                  </a:txBody>
                  <a:tcPr marL="187059" marR="187059" marT="187059" marB="18705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Agentic Retrieval: LLM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phân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tích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câu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hỏi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, chia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nhỏ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thành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nhiều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truy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vấn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 song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song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,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hợp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nhất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kết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quả</a:t>
                      </a:r>
                      <a:endParaRPr lang="en-US" sz="1100" dirty="0"/>
                    </a:p>
                  </a:txBody>
                  <a:tcPr marL="187059" marR="187059" marT="187059" marB="18705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6301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Tìm kiếm</a:t>
                      </a:r>
                      <a:endParaRPr lang="en-US" sz="1100"/>
                    </a:p>
                  </a:txBody>
                  <a:tcPr marL="187059" marR="187059" marT="187059" marB="18705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Vector search ( embedding )</a:t>
                      </a:r>
                      <a:endParaRPr lang="en-US" sz="1100" dirty="0"/>
                    </a:p>
                  </a:txBody>
                  <a:tcPr marL="187059" marR="187059" marT="187059" marB="18705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Hybrid Search: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kết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hợp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 vector search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với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 + keywork search,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gộp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kết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quả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bằng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  Reciprocal Rank Fusion (RRF)</a:t>
                      </a:r>
                      <a:endParaRPr lang="en-US" sz="1100" dirty="0"/>
                    </a:p>
                  </a:txBody>
                  <a:tcPr marL="187059" marR="187059" marT="187059" marB="18705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06301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Complex question</a:t>
                      </a:r>
                      <a:endParaRPr lang="en-US" sz="1100"/>
                    </a:p>
                  </a:txBody>
                  <a:tcPr marL="187059" marR="187059" marT="187059" marB="18705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Sử dụng một truy vấn</a:t>
                      </a:r>
                      <a:endParaRPr lang="en-US" sz="1100"/>
                    </a:p>
                  </a:txBody>
                  <a:tcPr marL="187059" marR="187059" marT="187059" marB="18705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Query Decomposition: LLM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tách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câu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hỏi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thành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nhiều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truy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vấn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 con,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giữ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ngữ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cảnh</a:t>
                      </a:r>
                      <a:endParaRPr lang="en-US" sz="1100" dirty="0"/>
                    </a:p>
                  </a:txBody>
                  <a:tcPr marL="187059" marR="187059" marT="187059" marB="18705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06301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Ngữ cảnh</a:t>
                      </a:r>
                      <a:endParaRPr lang="en-US" sz="1100"/>
                    </a:p>
                  </a:txBody>
                  <a:tcPr marL="187059" marR="187059" marT="187059" marB="18705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Dùng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ngữ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cảnh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độc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lập</a:t>
                      </a:r>
                      <a:endParaRPr lang="en-US" sz="1100" dirty="0"/>
                    </a:p>
                  </a:txBody>
                  <a:tcPr marL="187059" marR="187059" marT="187059" marB="18705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Conversation Search: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Lưu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giữ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 chat history,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dùng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 Retrieval Fusion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để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hết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hợp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truy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vấn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 </a:t>
                      </a:r>
                      <a:endParaRPr lang="en-US" sz="1100" dirty="0"/>
                    </a:p>
                  </a:txBody>
                  <a:tcPr marL="187059" marR="187059" marT="187059" marB="18705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06301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Quản lý dữ liệu</a:t>
                      </a:r>
                      <a:endParaRPr lang="en-US" sz="1100"/>
                    </a:p>
                  </a:txBody>
                  <a:tcPr marL="187059" marR="187059" marT="187059" marB="18705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Xây dựng pipeline index</a:t>
                      </a:r>
                      <a:endParaRPr lang="en-US" sz="1100"/>
                    </a:p>
                  </a:txBody>
                  <a:tcPr marL="187059" marR="187059" marT="187059" marB="18705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Knowledge Bases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trong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 Portal: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quản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lý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dữ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liệu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trực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quan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,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dễ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cấu</a:t>
                      </a:r>
                      <a:r>
                        <a:rPr lang="en-US" sz="2499" dirty="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 </a:t>
                      </a:r>
                      <a:r>
                        <a:rPr lang="en-US" sz="2499" dirty="0" err="1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hình</a:t>
                      </a:r>
                      <a:endParaRPr lang="en-US" sz="1100" dirty="0"/>
                    </a:p>
                  </a:txBody>
                  <a:tcPr marL="187059" marR="187059" marT="187059" marB="18705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01001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endParaRPr lang="en-US" sz="1100"/>
                    </a:p>
                  </a:txBody>
                  <a:tcPr marL="187059" marR="187059" marT="187059" marB="18705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endParaRPr lang="en-US" sz="1100"/>
                    </a:p>
                  </a:txBody>
                  <a:tcPr marL="187059" marR="187059" marT="187059" marB="18705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endParaRPr lang="en-US" sz="1100" dirty="0"/>
                    </a:p>
                  </a:txBody>
                  <a:tcPr marL="187059" marR="187059" marT="187059" marB="18705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Action Button: Go to End 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ED5430AC-E4A0-F6B0-2C8E-46E943F41694}"/>
              </a:ext>
            </a:extLst>
          </p:cNvPr>
          <p:cNvSpPr/>
          <p:nvPr/>
        </p:nvSpPr>
        <p:spPr>
          <a:xfrm>
            <a:off x="17706893" y="2831572"/>
            <a:ext cx="457200" cy="381000"/>
          </a:xfrm>
          <a:prstGeom prst="actionButtonE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ction Button: Go to End 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406C3759-234F-C626-A34F-76003817A5F6}"/>
              </a:ext>
            </a:extLst>
          </p:cNvPr>
          <p:cNvSpPr/>
          <p:nvPr/>
        </p:nvSpPr>
        <p:spPr>
          <a:xfrm>
            <a:off x="17686758" y="4020944"/>
            <a:ext cx="457200" cy="381000"/>
          </a:xfrm>
          <a:prstGeom prst="actionButtonE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Action Button: Go to End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77513407-29A0-98D4-848B-AC4A39FF40E5}"/>
              </a:ext>
            </a:extLst>
          </p:cNvPr>
          <p:cNvSpPr/>
          <p:nvPr/>
        </p:nvSpPr>
        <p:spPr>
          <a:xfrm>
            <a:off x="17706893" y="5359928"/>
            <a:ext cx="457200" cy="381000"/>
          </a:xfrm>
          <a:prstGeom prst="actionButtonE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728445" y="3004363"/>
            <a:ext cx="10831109" cy="2581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0"/>
              </a:lnSpc>
              <a:spcBef>
                <a:spcPct val="0"/>
              </a:spcBef>
            </a:pPr>
            <a:r>
              <a:rPr lang="en-US" sz="15000" b="1">
                <a:solidFill>
                  <a:srgbClr val="547D39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AZURE AI SEARCH</a:t>
            </a:r>
          </a:p>
        </p:txBody>
      </p:sp>
      <p:sp>
        <p:nvSpPr>
          <p:cNvPr id="3" name="AutoShape 3"/>
          <p:cNvSpPr/>
          <p:nvPr/>
        </p:nvSpPr>
        <p:spPr>
          <a:xfrm>
            <a:off x="4985480" y="5538013"/>
            <a:ext cx="9049107" cy="23812"/>
          </a:xfrm>
          <a:prstGeom prst="line">
            <a:avLst/>
          </a:prstGeom>
          <a:ln w="47625" cap="rnd">
            <a:solidFill>
              <a:srgbClr val="547D39"/>
            </a:solidFill>
            <a:prstDash val="sysDash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60047" y="796174"/>
            <a:ext cx="10198128" cy="4695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2065"/>
              </a:lnSpc>
            </a:pPr>
            <a:r>
              <a:rPr lang="en-US" sz="12700" b="1">
                <a:solidFill>
                  <a:srgbClr val="70170A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AGENTIC</a:t>
            </a:r>
          </a:p>
          <a:p>
            <a:pPr algn="just">
              <a:lnSpc>
                <a:spcPts val="12065"/>
              </a:lnSpc>
            </a:pPr>
            <a:r>
              <a:rPr lang="en-US" sz="12700" b="1">
                <a:solidFill>
                  <a:srgbClr val="70170A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RETRIEVAL</a:t>
            </a:r>
          </a:p>
          <a:p>
            <a:pPr algn="just">
              <a:lnSpc>
                <a:spcPts val="12065"/>
              </a:lnSpc>
            </a:pPr>
            <a:endParaRPr lang="en-US" sz="12700" b="1">
              <a:solidFill>
                <a:srgbClr val="70170A"/>
              </a:solidFill>
              <a:latin typeface="Saira ExtraCondensed Bold"/>
              <a:ea typeface="Saira ExtraCondensed Bold"/>
              <a:cs typeface="Saira ExtraCondensed Bold"/>
              <a:sym typeface="Saira ExtraCondensed Bold"/>
            </a:endParaRPr>
          </a:p>
        </p:txBody>
      </p:sp>
      <p:sp>
        <p:nvSpPr>
          <p:cNvPr id="3" name="AutoShape 3"/>
          <p:cNvSpPr/>
          <p:nvPr/>
        </p:nvSpPr>
        <p:spPr>
          <a:xfrm flipV="1">
            <a:off x="11360047" y="3986644"/>
            <a:ext cx="5201265" cy="0"/>
          </a:xfrm>
          <a:prstGeom prst="line">
            <a:avLst/>
          </a:prstGeom>
          <a:ln w="57150" cap="rnd">
            <a:solidFill>
              <a:srgbClr val="547D39"/>
            </a:solidFill>
            <a:prstDash val="sysDash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28700" y="660039"/>
            <a:ext cx="8502504" cy="3326605"/>
          </a:xfrm>
          <a:custGeom>
            <a:avLst/>
            <a:gdLst/>
            <a:ahLst/>
            <a:cxnLst/>
            <a:rect l="l" t="t" r="r" b="b"/>
            <a:pathLst>
              <a:path w="8502504" h="3326605">
                <a:moveTo>
                  <a:pt x="0" y="0"/>
                </a:moveTo>
                <a:lnTo>
                  <a:pt x="8502504" y="0"/>
                </a:lnTo>
                <a:lnTo>
                  <a:pt x="8502504" y="3326605"/>
                </a:lnTo>
                <a:lnTo>
                  <a:pt x="0" y="33266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883034" y="4914900"/>
            <a:ext cx="6793836" cy="4016748"/>
          </a:xfrm>
          <a:custGeom>
            <a:avLst/>
            <a:gdLst/>
            <a:ahLst/>
            <a:cxnLst/>
            <a:rect l="l" t="t" r="r" b="b"/>
            <a:pathLst>
              <a:path w="6793836" h="4016748">
                <a:moveTo>
                  <a:pt x="0" y="0"/>
                </a:moveTo>
                <a:lnTo>
                  <a:pt x="6793836" y="0"/>
                </a:lnTo>
                <a:lnTo>
                  <a:pt x="6793836" y="4016748"/>
                </a:lnTo>
                <a:lnTo>
                  <a:pt x="0" y="40167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743" r="-474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9754261" y="5067300"/>
            <a:ext cx="8194085" cy="3446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8412" lvl="1" indent="-424206" algn="l">
              <a:lnSpc>
                <a:spcPts val="5501"/>
              </a:lnSpc>
              <a:buFont typeface="Arial"/>
              <a:buChar char="•"/>
            </a:pPr>
            <a:r>
              <a:rPr lang="en-US" sz="3929" dirty="0" err="1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Sử</a:t>
            </a:r>
            <a:r>
              <a:rPr lang="en-US" sz="3929" dirty="0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 </a:t>
            </a:r>
            <a:r>
              <a:rPr lang="en-US" sz="3929" dirty="0" err="1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dụng</a:t>
            </a:r>
            <a:r>
              <a:rPr lang="en-US" sz="3929" dirty="0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 LLM </a:t>
            </a:r>
            <a:r>
              <a:rPr lang="en-US" sz="3929" dirty="0" err="1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để</a:t>
            </a:r>
            <a:r>
              <a:rPr lang="en-US" sz="3929" dirty="0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 chia </a:t>
            </a:r>
            <a:r>
              <a:rPr lang="en-US" sz="3929" dirty="0" err="1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nhỏ</a:t>
            </a:r>
            <a:r>
              <a:rPr lang="en-US" sz="3929" dirty="0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 </a:t>
            </a:r>
            <a:r>
              <a:rPr lang="en-US" sz="3929" dirty="0" err="1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một</a:t>
            </a:r>
            <a:r>
              <a:rPr lang="en-US" sz="3929" dirty="0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 </a:t>
            </a:r>
            <a:r>
              <a:rPr lang="en-US" sz="3929" dirty="0" err="1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truy</a:t>
            </a:r>
            <a:r>
              <a:rPr lang="en-US" sz="3929" dirty="0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 </a:t>
            </a:r>
            <a:r>
              <a:rPr lang="en-US" sz="3929" dirty="0" err="1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vấn</a:t>
            </a:r>
            <a:r>
              <a:rPr lang="en-US" sz="3929" dirty="0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 </a:t>
            </a:r>
            <a:r>
              <a:rPr lang="en-US" sz="3929" dirty="0" err="1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phức</a:t>
            </a:r>
            <a:r>
              <a:rPr lang="en-US" sz="3929" dirty="0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 </a:t>
            </a:r>
            <a:r>
              <a:rPr lang="en-US" sz="3929" dirty="0" err="1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tạp</a:t>
            </a:r>
            <a:endParaRPr lang="en-US" sz="3929" dirty="0">
              <a:solidFill>
                <a:srgbClr val="000000"/>
              </a:solidFill>
              <a:latin typeface="Saira ExtraCondensed"/>
              <a:ea typeface="Saira ExtraCondensed"/>
              <a:cs typeface="Saira ExtraCondensed"/>
              <a:sym typeface="Saira ExtraCondensed"/>
            </a:endParaRPr>
          </a:p>
          <a:p>
            <a:pPr marL="848412" lvl="1" indent="-424206" algn="l">
              <a:lnSpc>
                <a:spcPts val="5501"/>
              </a:lnSpc>
              <a:buFont typeface="Arial"/>
              <a:buChar char="•"/>
            </a:pPr>
            <a:r>
              <a:rPr lang="en-US" sz="3929" dirty="0" err="1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Chạy</a:t>
            </a:r>
            <a:r>
              <a:rPr lang="en-US" sz="3929" dirty="0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 song </a:t>
            </a:r>
            <a:r>
              <a:rPr lang="en-US" sz="3929" dirty="0" err="1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song</a:t>
            </a:r>
            <a:r>
              <a:rPr lang="en-US" sz="3929" dirty="0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 </a:t>
            </a:r>
            <a:r>
              <a:rPr lang="en-US" sz="3929" dirty="0" err="1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các</a:t>
            </a:r>
            <a:r>
              <a:rPr lang="en-US" sz="3929" dirty="0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 </a:t>
            </a:r>
            <a:r>
              <a:rPr lang="en-US" sz="3929" dirty="0" err="1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truy</a:t>
            </a:r>
            <a:r>
              <a:rPr lang="en-US" sz="3929" dirty="0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 </a:t>
            </a:r>
            <a:r>
              <a:rPr lang="en-US" sz="3929" dirty="0" err="1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vấn</a:t>
            </a:r>
            <a:r>
              <a:rPr lang="en-US" sz="3929" dirty="0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 con</a:t>
            </a:r>
          </a:p>
          <a:p>
            <a:pPr marL="848412" lvl="1" indent="-424206" algn="l">
              <a:lnSpc>
                <a:spcPts val="5501"/>
              </a:lnSpc>
              <a:buFont typeface="Arial"/>
              <a:buChar char="•"/>
            </a:pPr>
            <a:r>
              <a:rPr lang="en-US" sz="3929" dirty="0" err="1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Sử</a:t>
            </a:r>
            <a:r>
              <a:rPr lang="en-US" sz="3929" dirty="0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 </a:t>
            </a:r>
            <a:r>
              <a:rPr lang="en-US" sz="3929" dirty="0" err="1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dụng</a:t>
            </a:r>
            <a:r>
              <a:rPr lang="en-US" sz="3929" dirty="0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 </a:t>
            </a:r>
            <a:r>
              <a:rPr lang="en-US" sz="3929" dirty="0" err="1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lịch</a:t>
            </a:r>
            <a:r>
              <a:rPr lang="en-US" sz="3929" dirty="0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 </a:t>
            </a:r>
            <a:r>
              <a:rPr lang="en-US" sz="3929" dirty="0" err="1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sử</a:t>
            </a:r>
            <a:r>
              <a:rPr lang="en-US" sz="3929" dirty="0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 chat </a:t>
            </a:r>
            <a:r>
              <a:rPr lang="en-US" sz="3929" dirty="0" err="1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để</a:t>
            </a:r>
            <a:r>
              <a:rPr lang="en-US" sz="3929" dirty="0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 </a:t>
            </a:r>
            <a:r>
              <a:rPr lang="en-US" sz="3929" dirty="0" err="1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truy</a:t>
            </a:r>
            <a:r>
              <a:rPr lang="en-US" sz="3929" dirty="0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 </a:t>
            </a:r>
            <a:r>
              <a:rPr lang="en-US" sz="3929" dirty="0" err="1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vấn</a:t>
            </a:r>
            <a:r>
              <a:rPr lang="en-US" sz="3929" dirty="0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 </a:t>
            </a:r>
            <a:r>
              <a:rPr lang="en-US" sz="3929" dirty="0" err="1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những</a:t>
            </a:r>
            <a:r>
              <a:rPr lang="en-US" sz="3929" dirty="0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 </a:t>
            </a:r>
            <a:r>
              <a:rPr lang="en-US" sz="3929" dirty="0" err="1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thông</a:t>
            </a:r>
            <a:r>
              <a:rPr lang="en-US" sz="3929" dirty="0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 tin </a:t>
            </a:r>
            <a:r>
              <a:rPr lang="en-US" sz="3929" dirty="0" err="1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liên</a:t>
            </a:r>
            <a:r>
              <a:rPr lang="en-US" sz="3929" dirty="0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 </a:t>
            </a:r>
            <a:r>
              <a:rPr lang="en-US" sz="3929" dirty="0" err="1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quan</a:t>
            </a:r>
            <a:endParaRPr lang="en-US" sz="3929" dirty="0">
              <a:solidFill>
                <a:srgbClr val="000000"/>
              </a:solidFill>
              <a:latin typeface="Saira ExtraCondensed"/>
              <a:ea typeface="Saira ExtraCondensed"/>
              <a:cs typeface="Saira ExtraCondensed"/>
              <a:sym typeface="Saira ExtraCondensed"/>
            </a:endParaRPr>
          </a:p>
          <a:p>
            <a:pPr marL="848412" lvl="1" indent="-424206" algn="l">
              <a:lnSpc>
                <a:spcPts val="5501"/>
              </a:lnSpc>
              <a:buFont typeface="Arial"/>
              <a:buChar char="•"/>
            </a:pPr>
            <a:r>
              <a:rPr lang="en-US" sz="3929" dirty="0" err="1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Sửa</a:t>
            </a:r>
            <a:r>
              <a:rPr lang="en-US" sz="3929" dirty="0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 </a:t>
            </a:r>
            <a:r>
              <a:rPr lang="en-US" sz="3929" dirty="0" err="1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lỗi</a:t>
            </a:r>
            <a:r>
              <a:rPr lang="en-US" sz="3929" dirty="0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 </a:t>
            </a:r>
            <a:r>
              <a:rPr lang="en-US" sz="3929" dirty="0" err="1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chính</a:t>
            </a:r>
            <a:r>
              <a:rPr lang="en-US" sz="3929" dirty="0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 </a:t>
            </a:r>
            <a:r>
              <a:rPr lang="en-US" sz="3929" dirty="0" err="1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tả</a:t>
            </a:r>
            <a:endParaRPr lang="en-US" sz="3929" dirty="0">
              <a:solidFill>
                <a:srgbClr val="000000"/>
              </a:solidFill>
              <a:latin typeface="Saira ExtraCondensed"/>
              <a:ea typeface="Saira ExtraCondensed"/>
              <a:cs typeface="Saira ExtraCondensed"/>
              <a:sym typeface="Saira ExtraCondensed"/>
            </a:endParaRPr>
          </a:p>
        </p:txBody>
      </p:sp>
      <p:sp>
        <p:nvSpPr>
          <p:cNvPr id="7" name="Action Button: Go Home 6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A808B12C-A302-ED61-433C-28579D199484}"/>
              </a:ext>
            </a:extLst>
          </p:cNvPr>
          <p:cNvSpPr/>
          <p:nvPr/>
        </p:nvSpPr>
        <p:spPr>
          <a:xfrm>
            <a:off x="16916400" y="419100"/>
            <a:ext cx="609600" cy="6096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55030" y="417019"/>
            <a:ext cx="9768802" cy="2581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0"/>
              </a:lnSpc>
              <a:spcBef>
                <a:spcPct val="0"/>
              </a:spcBef>
            </a:pPr>
            <a:r>
              <a:rPr lang="en-US" sz="15000" b="1">
                <a:solidFill>
                  <a:srgbClr val="70170A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Hybrid Search</a:t>
            </a:r>
          </a:p>
        </p:txBody>
      </p:sp>
      <p:sp>
        <p:nvSpPr>
          <p:cNvPr id="3" name="AutoShape 3"/>
          <p:cNvSpPr/>
          <p:nvPr/>
        </p:nvSpPr>
        <p:spPr>
          <a:xfrm>
            <a:off x="440755" y="2998294"/>
            <a:ext cx="9002415" cy="0"/>
          </a:xfrm>
          <a:prstGeom prst="line">
            <a:avLst/>
          </a:prstGeom>
          <a:ln w="47625" cap="rnd">
            <a:solidFill>
              <a:srgbClr val="547D39"/>
            </a:solidFill>
            <a:prstDash val="sysDash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7465619" y="3486491"/>
            <a:ext cx="10669981" cy="4534955"/>
          </a:xfrm>
          <a:custGeom>
            <a:avLst/>
            <a:gdLst/>
            <a:ahLst/>
            <a:cxnLst/>
            <a:rect l="l" t="t" r="r" b="b"/>
            <a:pathLst>
              <a:path w="10993831" h="4534955">
                <a:moveTo>
                  <a:pt x="0" y="0"/>
                </a:moveTo>
                <a:lnTo>
                  <a:pt x="10993831" y="0"/>
                </a:lnTo>
                <a:lnTo>
                  <a:pt x="10993831" y="4534956"/>
                </a:lnTo>
                <a:lnTo>
                  <a:pt x="0" y="45349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440755" y="3410291"/>
            <a:ext cx="7866989" cy="5987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21399" lvl="1" indent="-460699" algn="l">
              <a:lnSpc>
                <a:spcPts val="5974"/>
              </a:lnSpc>
              <a:buFont typeface="Arial"/>
              <a:buChar char="•"/>
            </a:pPr>
            <a:r>
              <a:rPr lang="en-US" sz="4267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Đây là một truy vấn duy nhất nhưng có chứa cả tham số tìm kiếm theo từ khóa (search) và tham số tìm kiếm theo vector (vectors). </a:t>
            </a:r>
          </a:p>
          <a:p>
            <a:pPr marL="921399" lvl="1" indent="-460699" algn="l">
              <a:lnSpc>
                <a:spcPts val="5974"/>
              </a:lnSpc>
              <a:buFont typeface="Arial"/>
              <a:buChar char="•"/>
            </a:pPr>
            <a:r>
              <a:rPr lang="en-US" sz="4267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Hệ thống sẽ chạy song song 2 tham số </a:t>
            </a:r>
          </a:p>
          <a:p>
            <a:pPr marL="921399" lvl="1" indent="-460699" algn="l">
              <a:lnSpc>
                <a:spcPts val="5974"/>
              </a:lnSpc>
              <a:buFont typeface="Arial"/>
              <a:buChar char="•"/>
            </a:pPr>
            <a:r>
              <a:rPr lang="en-US" sz="4267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Đưa ra kết quả theog  Reciprocal Rank Fusion (RRF)</a:t>
            </a:r>
          </a:p>
          <a:p>
            <a:pPr algn="l">
              <a:lnSpc>
                <a:spcPts val="5974"/>
              </a:lnSpc>
            </a:pPr>
            <a:endParaRPr lang="en-US" sz="4267">
              <a:solidFill>
                <a:srgbClr val="000000"/>
              </a:solidFill>
              <a:latin typeface="Saira ExtraCondensed"/>
              <a:ea typeface="Saira ExtraCondensed"/>
              <a:cs typeface="Saira ExtraCondensed"/>
              <a:sym typeface="Saira ExtraCondensed"/>
            </a:endParaRPr>
          </a:p>
        </p:txBody>
      </p:sp>
      <p:sp>
        <p:nvSpPr>
          <p:cNvPr id="6" name="Action Button: Go Home 5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D05D087D-F497-34F6-4F50-A36B4956FF39}"/>
              </a:ext>
            </a:extLst>
          </p:cNvPr>
          <p:cNvSpPr/>
          <p:nvPr/>
        </p:nvSpPr>
        <p:spPr>
          <a:xfrm>
            <a:off x="16916400" y="419100"/>
            <a:ext cx="609600" cy="6096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192207" y="2644781"/>
            <a:ext cx="9451690" cy="4493902"/>
          </a:xfrm>
          <a:custGeom>
            <a:avLst/>
            <a:gdLst/>
            <a:ahLst/>
            <a:cxnLst/>
            <a:rect l="l" t="t" r="r" b="b"/>
            <a:pathLst>
              <a:path w="9451690" h="4493902">
                <a:moveTo>
                  <a:pt x="0" y="0"/>
                </a:moveTo>
                <a:lnTo>
                  <a:pt x="9451689" y="0"/>
                </a:lnTo>
                <a:lnTo>
                  <a:pt x="9451689" y="4493901"/>
                </a:lnTo>
                <a:lnTo>
                  <a:pt x="0" y="44939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493373"/>
            <a:ext cx="9312657" cy="3706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85"/>
              </a:lnSpc>
            </a:pPr>
            <a:r>
              <a:rPr lang="en-US" sz="10632" b="1">
                <a:solidFill>
                  <a:srgbClr val="70170A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 KNOWLEDGE BASE</a:t>
            </a:r>
          </a:p>
          <a:p>
            <a:pPr algn="l">
              <a:lnSpc>
                <a:spcPts val="14885"/>
              </a:lnSpc>
              <a:spcBef>
                <a:spcPct val="0"/>
              </a:spcBef>
            </a:pPr>
            <a:endParaRPr lang="en-US" sz="10632" b="1">
              <a:solidFill>
                <a:srgbClr val="70170A"/>
              </a:solidFill>
              <a:latin typeface="Saira ExtraCondensed Bold"/>
              <a:ea typeface="Saira ExtraCondensed Bold"/>
              <a:cs typeface="Saira ExtraCondensed Bold"/>
              <a:sym typeface="Saira ExtraCondensed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39159" y="2559056"/>
            <a:ext cx="7553047" cy="6111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33197" lvl="1" indent="-416599" algn="l">
              <a:lnSpc>
                <a:spcPts val="5402"/>
              </a:lnSpc>
              <a:buFont typeface="Arial"/>
              <a:buChar char="•"/>
            </a:pPr>
            <a:r>
              <a:rPr lang="en-US" sz="3859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Tập hợp dữ liệu (tài liệu, hình ảnh, metadata…) được lưu trữ và index trong Azure AI Search.</a:t>
            </a:r>
          </a:p>
          <a:p>
            <a:pPr marL="833197" lvl="1" indent="-416599" algn="l">
              <a:lnSpc>
                <a:spcPts val="5402"/>
              </a:lnSpc>
              <a:buFont typeface="Arial"/>
              <a:buChar char="•"/>
            </a:pPr>
            <a:r>
              <a:rPr lang="en-US" sz="3859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Cho phép hệ thống truy xuất thông minh bằng full-text search, vector search, hybrid search, và multimodal search.</a:t>
            </a:r>
          </a:p>
          <a:p>
            <a:pPr marL="833197" lvl="1" indent="-416599" algn="l">
              <a:lnSpc>
                <a:spcPts val="5402"/>
              </a:lnSpc>
              <a:buFont typeface="Arial"/>
              <a:buChar char="•"/>
            </a:pPr>
            <a:r>
              <a:rPr lang="en-US" sz="3859">
                <a:solidFill>
                  <a:srgbClr val="000000"/>
                </a:solidFill>
                <a:latin typeface="Saira ExtraCondensed"/>
                <a:ea typeface="Saira ExtraCondensed"/>
                <a:cs typeface="Saira ExtraCondensed"/>
                <a:sym typeface="Saira ExtraCondensed"/>
              </a:rPr>
              <a:t>Kết hợp với LLM: để tóm tắt, trả lời, sinh nội dung từ dữ liệu.</a:t>
            </a:r>
          </a:p>
          <a:p>
            <a:pPr algn="l">
              <a:lnSpc>
                <a:spcPts val="5402"/>
              </a:lnSpc>
            </a:pPr>
            <a:endParaRPr lang="en-US" sz="3859">
              <a:solidFill>
                <a:srgbClr val="000000"/>
              </a:solidFill>
              <a:latin typeface="Saira ExtraCondensed"/>
              <a:ea typeface="Saira ExtraCondensed"/>
              <a:cs typeface="Saira ExtraCondensed"/>
              <a:sym typeface="Saira ExtraCondensed"/>
            </a:endParaRPr>
          </a:p>
        </p:txBody>
      </p:sp>
      <p:sp>
        <p:nvSpPr>
          <p:cNvPr id="5" name="Action Button: Go Home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65E81447-3BEA-9CBF-72E9-53197833A278}"/>
              </a:ext>
            </a:extLst>
          </p:cNvPr>
          <p:cNvSpPr/>
          <p:nvPr/>
        </p:nvSpPr>
        <p:spPr>
          <a:xfrm>
            <a:off x="16916400" y="419100"/>
            <a:ext cx="609600" cy="6096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805946" y="2397140"/>
            <a:ext cx="13298504" cy="7397293"/>
          </a:xfrm>
          <a:custGeom>
            <a:avLst/>
            <a:gdLst/>
            <a:ahLst/>
            <a:cxnLst/>
            <a:rect l="l" t="t" r="r" b="b"/>
            <a:pathLst>
              <a:path w="13298504" h="7397293">
                <a:moveTo>
                  <a:pt x="0" y="0"/>
                </a:moveTo>
                <a:lnTo>
                  <a:pt x="13298504" y="0"/>
                </a:lnTo>
                <a:lnTo>
                  <a:pt x="13298504" y="7397293"/>
                </a:lnTo>
                <a:lnTo>
                  <a:pt x="0" y="73972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708246" y="895350"/>
            <a:ext cx="16871507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7200" b="1" dirty="0">
                <a:solidFill>
                  <a:srgbClr val="547D39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KẾT HỢP GIỮA AGENTIC RETRIVAL VÀ KNOWLEDGE BASES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320</Words>
  <Application>Microsoft Office PowerPoint</Application>
  <PresentationFormat>Custom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Asap</vt:lpstr>
      <vt:lpstr>Saira ExtraCondensed Bold</vt:lpstr>
      <vt:lpstr>Faustina Bold</vt:lpstr>
      <vt:lpstr>Arial</vt:lpstr>
      <vt:lpstr>Calibri</vt:lpstr>
      <vt:lpstr>Saira ExtraCondensed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AI Search</dc:title>
  <cp:lastModifiedBy>Vn Intern13 (DMVN)</cp:lastModifiedBy>
  <cp:revision>4</cp:revision>
  <dcterms:created xsi:type="dcterms:W3CDTF">2006-08-16T00:00:00Z</dcterms:created>
  <dcterms:modified xsi:type="dcterms:W3CDTF">2026-01-08T08:11:09Z</dcterms:modified>
  <dc:identifier>DAG9y-id4eI</dc:identifier>
</cp:coreProperties>
</file>